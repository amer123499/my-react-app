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725" autoAdjust="0"/>
  </p:normalViewPr>
  <p:slideViewPr>
    <p:cSldViewPr snapToGrid="0" snapToObjects="1">
      <p:cViewPr varScale="1">
        <p:scale>
          <a:sx n="88" d="100"/>
          <a:sy n="88" d="100"/>
        </p:scale>
        <p:origin x="14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19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checklist-driven approach mirrors the structured method described in the Functional Software Testing reference [1]: rather than testing only the paths a typical user takes, every screen, control, and workflow is treated as its own test case. Working through a written checklist item by item made it far less likely that a feature or edge case was overlooked before the application was considered ready for the next stage of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bug in this section followed the same cycle: reproduce the problem, describe the expected behavior, apply a fix, and retest before moving on, an approach informed by the combined functional and security perspective in reference [3]. Retesting after every fix mattered as much as the fix itself, since a correction made in one area can quietly change behavior elsewhere in the application if it is not verified immediately afterward.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categories reviewed here follow the fundamentals introduced in the Application Security reference [2]: protecting secrets, validating input, and guarding data at rest and in transit. None of these protections are one-time fixes — as the application changes, new inputs, new integrations, and new configuration values should be checked against this same list so that security keeps pace with new features rather than lagging behind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was treated as part of reliability rather than a separate concern: a feature that only works with a mouse, or an error message only a sighted user can interpret, is a functional gap for the people it excludes. Keyboard-only navigation was used as the primary check throughout this review, since it quickly reveals missing focus states, unreachable controls, and unclear labeling that other testing methods can easily miss.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bug stood out because it sat at the entry point of the application: nearly every other feature depended on data first passing through a form. A silent failure there could ripple outward into confusing behavior anywhere downstream, which is exactly why input validation was treated as a priority fix rather than a minor polish item during this round of testing.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Exposed secrets are considered high-severity precisely because they require no clever exploit to abuse — anyone who finds them can use them directly. Moving these values out of source code and into protected configuration closed that gap immediately, and reviewing database interactions alongside it ensured the fix addressed both how secrets were stored and how user-supplied data reached sensitive systems.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was most valuable as a way to widen the search for problems: it prompted us to consider inputs and failure modes we might not have thought to try on our own. It was not treated as a final authority, though — every AI-suggested fix was read, understood, and retested before being trusted, which kept the responsibility for the application's correctness and safety with us rather than with the tool.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habit to build was adversarial thinking  deliberately trying to break a feature we had just finished being proud of. It is far more natural to confirm that something works than to hunt for the ways it might fail. That shift in mindset, more than any individual fix, is the lesson most likely to carry over into future projects beyond this assignment.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short videos were reviewed before hands-on work began and are cited by number at the points in this report where they most directly shaped the approach taken: building a systematic checklist, auditing for common security vulnerabilities, and treating functional and security testing as complementary rather than separate activities. Revisiting them is a useful refresher before repeating this process on a future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31520" y="1965960"/>
            <a:ext cx="960120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TESTING &amp; SECURITY REPORT</a:t>
            </a:r>
            <a:endParaRPr lang="en-US" sz="4000" dirty="0"/>
          </a:p>
        </p:txBody>
      </p:sp>
      <p:sp>
        <p:nvSpPr>
          <p:cNvPr id="3" name="Text 1"/>
          <p:cNvSpPr txBox="1"/>
          <p:nvPr/>
        </p:nvSpPr>
        <p:spPr>
          <a:xfrm>
            <a:off x="731520" y="2697480"/>
            <a:ext cx="9601200" cy="457200"/>
          </a:xfrm>
          <a:prstGeom prst="rect">
            <a:avLst/>
          </a:prstGeom>
          <a:noFill/>
          <a:ln/>
        </p:spPr>
        <p:txBody>
          <a:bodyPr wrap="square" lIns="0" tIns="0" rIns="0" bIns="0" rtlCol="0" anchor="ctr"/>
          <a:lstStyle/>
          <a:p>
            <a:pPr marL="0" indent="0" algn="ctr">
              <a:buNone/>
            </a:pPr>
            <a:r>
              <a:rPr lang="en-US" sz="1700" i="1" dirty="0">
                <a:solidFill>
                  <a:srgbClr val="CADCFC"/>
                </a:solidFill>
                <a:latin typeface="Calibri" pitchFamily="34" charset="0"/>
                <a:ea typeface="Calibri" pitchFamily="34" charset="-122"/>
                <a:cs typeface="Calibri" pitchFamily="34" charset="-120"/>
              </a:rPr>
              <a:t>How We Made Our Application Production-Ready</a:t>
            </a:r>
            <a:endParaRPr lang="en-US" sz="1700" dirty="0"/>
          </a:p>
        </p:txBody>
      </p:sp>
      <p:sp>
        <p:nvSpPr>
          <p:cNvPr id="4" name="Text 2"/>
          <p:cNvSpPr txBox="1"/>
          <p:nvPr/>
        </p:nvSpPr>
        <p:spPr>
          <a:xfrm>
            <a:off x="1012383" y="3474721"/>
            <a:ext cx="10618785" cy="1188720"/>
          </a:xfrm>
          <a:prstGeom prst="rect">
            <a:avLst/>
          </a:prstGeom>
          <a:noFill/>
          <a:ln/>
        </p:spPr>
        <p:txBody>
          <a:bodyPr wrap="square" lIns="0" tIns="0" rIns="0" bIns="0" rtlCol="0" anchor="ctr"/>
          <a:lstStyle/>
          <a:p>
            <a:pPr marL="0" indent="0" algn="l">
              <a:lnSpc>
                <a:spcPct val="125000"/>
              </a:lnSpc>
              <a:buNone/>
            </a:pPr>
            <a:r>
              <a:rPr lang="en-US" sz="1300" dirty="0">
                <a:solidFill>
                  <a:srgbClr val="D7DEF2"/>
                </a:solidFill>
                <a:latin typeface="Calibri" pitchFamily="34" charset="0"/>
                <a:ea typeface="Calibri" pitchFamily="34" charset="-122"/>
                <a:cs typeface="Calibri" pitchFamily="34" charset="-120"/>
              </a:rPr>
              <a:t>This presentation summarizes the work completed during this assignment: the application was systematically tested, its bugs were identified and fixed, its security was audited and strengthened, and its accessibility was improved. AI-assisted development tools supported the process throughout, helping us test more thoroughly and resolve issues more efficiently.</a:t>
            </a:r>
            <a:endParaRPr lang="en-US" sz="1300" dirty="0"/>
          </a:p>
        </p:txBody>
      </p:sp>
      <p:sp>
        <p:nvSpPr>
          <p:cNvPr id="5" name="Shape 3"/>
          <p:cNvSpPr/>
          <p:nvPr/>
        </p:nvSpPr>
        <p:spPr>
          <a:xfrm>
            <a:off x="731520" y="4892040"/>
            <a:ext cx="685800" cy="685800"/>
          </a:xfrm>
          <a:prstGeom prst="ellipse">
            <a:avLst/>
          </a:prstGeom>
          <a:solidFill>
            <a:srgbClr val="2A3579"/>
          </a:solidFill>
          <a:ln w="12700">
            <a:solidFill>
              <a:srgbClr val="3C4A96"/>
            </a:solidFill>
            <a:prstDash val="solid"/>
          </a:ln>
        </p:spPr>
      </p:sp>
      <p:pic>
        <p:nvPicPr>
          <p:cNvPr id="6" name="Image 0" descr="/home/claude/work/icons_gen/checklist.png"/>
          <p:cNvPicPr>
            <a:picLocks noChangeAspect="1"/>
          </p:cNvPicPr>
          <p:nvPr/>
        </p:nvPicPr>
        <p:blipFill>
          <a:blip r:embed="rId3"/>
          <a:stretch>
            <a:fillRect/>
          </a:stretch>
        </p:blipFill>
        <p:spPr>
          <a:xfrm>
            <a:off x="877824" y="5038344"/>
            <a:ext cx="393192" cy="393192"/>
          </a:xfrm>
          <a:prstGeom prst="rect">
            <a:avLst/>
          </a:prstGeom>
        </p:spPr>
      </p:pic>
      <p:sp>
        <p:nvSpPr>
          <p:cNvPr id="7" name="Shape 4"/>
          <p:cNvSpPr/>
          <p:nvPr/>
        </p:nvSpPr>
        <p:spPr>
          <a:xfrm>
            <a:off x="1691640" y="4892040"/>
            <a:ext cx="685800" cy="685800"/>
          </a:xfrm>
          <a:prstGeom prst="ellipse">
            <a:avLst/>
          </a:prstGeom>
          <a:solidFill>
            <a:srgbClr val="2A3579"/>
          </a:solidFill>
          <a:ln w="12700">
            <a:solidFill>
              <a:srgbClr val="3C4A96"/>
            </a:solidFill>
            <a:prstDash val="solid"/>
          </a:ln>
        </p:spPr>
      </p:sp>
      <p:pic>
        <p:nvPicPr>
          <p:cNvPr id="8" name="Image 1" descr="/home/claude/work/icons_gen/bug.png"/>
          <p:cNvPicPr>
            <a:picLocks noChangeAspect="1"/>
          </p:cNvPicPr>
          <p:nvPr/>
        </p:nvPicPr>
        <p:blipFill>
          <a:blip r:embed="rId4"/>
          <a:stretch>
            <a:fillRect/>
          </a:stretch>
        </p:blipFill>
        <p:spPr>
          <a:xfrm>
            <a:off x="1837944" y="5038344"/>
            <a:ext cx="393192" cy="393192"/>
          </a:xfrm>
          <a:prstGeom prst="rect">
            <a:avLst/>
          </a:prstGeom>
        </p:spPr>
      </p:pic>
      <p:sp>
        <p:nvSpPr>
          <p:cNvPr id="9" name="Shape 5"/>
          <p:cNvSpPr/>
          <p:nvPr/>
        </p:nvSpPr>
        <p:spPr>
          <a:xfrm>
            <a:off x="2651760" y="4892040"/>
            <a:ext cx="685800" cy="685800"/>
          </a:xfrm>
          <a:prstGeom prst="ellipse">
            <a:avLst/>
          </a:prstGeom>
          <a:solidFill>
            <a:srgbClr val="2A3579"/>
          </a:solidFill>
          <a:ln w="12700">
            <a:solidFill>
              <a:srgbClr val="3C4A96"/>
            </a:solidFill>
            <a:prstDash val="solid"/>
          </a:ln>
        </p:spPr>
      </p:sp>
      <p:pic>
        <p:nvPicPr>
          <p:cNvPr id="10" name="Image 2" descr="/home/claude/work/icons_gen/shield.png"/>
          <p:cNvPicPr>
            <a:picLocks noChangeAspect="1"/>
          </p:cNvPicPr>
          <p:nvPr/>
        </p:nvPicPr>
        <p:blipFill>
          <a:blip r:embed="rId5"/>
          <a:stretch>
            <a:fillRect/>
          </a:stretch>
        </p:blipFill>
        <p:spPr>
          <a:xfrm>
            <a:off x="2798064" y="5038344"/>
            <a:ext cx="393192" cy="393192"/>
          </a:xfrm>
          <a:prstGeom prst="rect">
            <a:avLst/>
          </a:prstGeom>
        </p:spPr>
      </p:pic>
      <p:sp>
        <p:nvSpPr>
          <p:cNvPr id="11" name="Shape 6"/>
          <p:cNvSpPr/>
          <p:nvPr/>
        </p:nvSpPr>
        <p:spPr>
          <a:xfrm>
            <a:off x="3611880" y="4892040"/>
            <a:ext cx="685800" cy="685800"/>
          </a:xfrm>
          <a:prstGeom prst="ellipse">
            <a:avLst/>
          </a:prstGeom>
          <a:solidFill>
            <a:srgbClr val="2A3579"/>
          </a:solidFill>
          <a:ln w="12700">
            <a:solidFill>
              <a:srgbClr val="3C4A96"/>
            </a:solidFill>
            <a:prstDash val="solid"/>
          </a:ln>
        </p:spPr>
      </p:sp>
      <p:pic>
        <p:nvPicPr>
          <p:cNvPr id="12" name="Image 3" descr="/home/claude/work/icons_gen/access.png"/>
          <p:cNvPicPr>
            <a:picLocks noChangeAspect="1"/>
          </p:cNvPicPr>
          <p:nvPr/>
        </p:nvPicPr>
        <p:blipFill>
          <a:blip r:embed="rId6"/>
          <a:stretch>
            <a:fillRect/>
          </a:stretch>
        </p:blipFill>
        <p:spPr>
          <a:xfrm>
            <a:off x="3758184" y="5038344"/>
            <a:ext cx="393192" cy="393192"/>
          </a:xfrm>
          <a:prstGeom prst="rect">
            <a:avLst/>
          </a:prstGeom>
        </p:spPr>
      </p:pic>
      <p:sp>
        <p:nvSpPr>
          <p:cNvPr id="13" name="Text 7"/>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4" name="Shape 8"/>
          <p:cNvSpPr/>
          <p:nvPr/>
        </p:nvSpPr>
        <p:spPr>
          <a:xfrm>
            <a:off x="11475720" y="6446520"/>
            <a:ext cx="310896" cy="310896"/>
          </a:xfrm>
          <a:prstGeom prst="ellipse">
            <a:avLst/>
          </a:prstGeom>
          <a:solidFill>
            <a:srgbClr val="1E2761"/>
          </a:solidFill>
          <a:ln/>
        </p:spPr>
      </p:sp>
      <p:sp>
        <p:nvSpPr>
          <p:cNvPr id="15" name="Text 9"/>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What We Set Out to Do</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lightbulb.png"/>
          <p:cNvPicPr>
            <a:picLocks noChangeAspect="1"/>
          </p:cNvPicPr>
          <p:nvPr/>
        </p:nvPicPr>
        <p:blipFill>
          <a:blip r:embed="rId3"/>
          <a:stretch>
            <a:fillRect/>
          </a:stretch>
        </p:blipFill>
        <p:spPr>
          <a:xfrm>
            <a:off x="11018520" y="640080"/>
            <a:ext cx="457200" cy="457200"/>
          </a:xfrm>
          <a:prstGeom prst="rect">
            <a:avLst/>
          </a:prstGeom>
        </p:spPr>
      </p:pic>
      <p:sp>
        <p:nvSpPr>
          <p:cNvPr id="6" name="Text 3"/>
          <p:cNvSpPr txBox="1"/>
          <p:nvPr/>
        </p:nvSpPr>
        <p:spPr>
          <a:xfrm>
            <a:off x="548640" y="1481328"/>
            <a:ext cx="11064240" cy="822960"/>
          </a:xfrm>
          <a:prstGeom prst="rect">
            <a:avLst/>
          </a:prstGeom>
          <a:noFill/>
          <a:ln/>
        </p:spPr>
        <p:txBody>
          <a:bodyPr wrap="square" lIns="0" tIns="0" rIns="0" bIns="0" rtlCol="0" anchor="t"/>
          <a:lstStyle/>
          <a:p>
            <a:pPr marL="0" indent="0" algn="l">
              <a:lnSpc>
                <a:spcPct val="120000"/>
              </a:lnSpc>
              <a:buNone/>
            </a:pPr>
            <a:r>
              <a:rPr lang="en-US" sz="1350" dirty="0">
                <a:solidFill>
                  <a:srgbClr val="33394A"/>
                </a:solidFill>
                <a:latin typeface="Calibri" pitchFamily="34" charset="0"/>
                <a:ea typeface="Calibri" pitchFamily="34" charset="-122"/>
                <a:cs typeface="Calibri" pitchFamily="34" charset="-120"/>
              </a:rPr>
              <a:t>Testing and security were treated as essential stages in preparing the application for real-world use. AI-assisted development tools supported the process by identifying weaknesses, recommending fixes, and improving overall reliability.</a:t>
            </a:r>
            <a:endParaRPr lang="en-US" sz="1350" dirty="0"/>
          </a:p>
        </p:txBody>
      </p:sp>
      <p:sp>
        <p:nvSpPr>
          <p:cNvPr id="7" name="Shape 4"/>
          <p:cNvSpPr/>
          <p:nvPr/>
        </p:nvSpPr>
        <p:spPr>
          <a:xfrm>
            <a:off x="548640" y="2450592"/>
            <a:ext cx="384048" cy="384048"/>
          </a:xfrm>
          <a:prstGeom prst="ellipse">
            <a:avLst/>
          </a:prstGeom>
          <a:solidFill>
            <a:srgbClr val="1E2761"/>
          </a:solidFill>
          <a:ln/>
        </p:spPr>
      </p:sp>
      <p:pic>
        <p:nvPicPr>
          <p:cNvPr id="8" name="Image 1" descr="/home/claude/work/icons_gen/checkcircle.png"/>
          <p:cNvPicPr>
            <a:picLocks noChangeAspect="1"/>
          </p:cNvPicPr>
          <p:nvPr/>
        </p:nvPicPr>
        <p:blipFill>
          <a:blip r:embed="rId4"/>
          <a:stretch>
            <a:fillRect/>
          </a:stretch>
        </p:blipFill>
        <p:spPr>
          <a:xfrm>
            <a:off x="621792" y="2523744"/>
            <a:ext cx="237744" cy="237744"/>
          </a:xfrm>
          <a:prstGeom prst="rect">
            <a:avLst/>
          </a:prstGeom>
        </p:spPr>
      </p:pic>
      <p:sp>
        <p:nvSpPr>
          <p:cNvPr id="9" name="Text 5"/>
          <p:cNvSpPr txBox="1"/>
          <p:nvPr/>
        </p:nvSpPr>
        <p:spPr>
          <a:xfrm>
            <a:off x="1115568" y="2395728"/>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Functional Testing —  </a:t>
            </a:r>
            <a:r>
              <a:rPr lang="en-US" sz="1300" dirty="0">
                <a:solidFill>
                  <a:srgbClr val="33394A"/>
                </a:solidFill>
                <a:latin typeface="Calibri" pitchFamily="34" charset="0"/>
                <a:ea typeface="Calibri" pitchFamily="34" charset="-122"/>
                <a:cs typeface="Calibri" pitchFamily="34" charset="-120"/>
              </a:rPr>
              <a:t>Confirmed that all major features worked correctly under normal and unexpected conditions.</a:t>
            </a:r>
            <a:endParaRPr lang="en-US" sz="1300" dirty="0"/>
          </a:p>
        </p:txBody>
      </p:sp>
      <p:sp>
        <p:nvSpPr>
          <p:cNvPr id="10" name="Shape 6"/>
          <p:cNvSpPr/>
          <p:nvPr/>
        </p:nvSpPr>
        <p:spPr>
          <a:xfrm>
            <a:off x="548640" y="3140964"/>
            <a:ext cx="384048" cy="384048"/>
          </a:xfrm>
          <a:prstGeom prst="ellipse">
            <a:avLst/>
          </a:prstGeom>
          <a:solidFill>
            <a:srgbClr val="1E2761"/>
          </a:solidFill>
          <a:ln/>
        </p:spPr>
      </p:sp>
      <p:pic>
        <p:nvPicPr>
          <p:cNvPr id="11" name="Image 2" descr="/home/claude/work/icons_gen/search.png"/>
          <p:cNvPicPr>
            <a:picLocks noChangeAspect="1"/>
          </p:cNvPicPr>
          <p:nvPr/>
        </p:nvPicPr>
        <p:blipFill>
          <a:blip r:embed="rId5"/>
          <a:stretch>
            <a:fillRect/>
          </a:stretch>
        </p:blipFill>
        <p:spPr>
          <a:xfrm>
            <a:off x="621792" y="3214116"/>
            <a:ext cx="237744" cy="237744"/>
          </a:xfrm>
          <a:prstGeom prst="rect">
            <a:avLst/>
          </a:prstGeom>
        </p:spPr>
      </p:pic>
      <p:sp>
        <p:nvSpPr>
          <p:cNvPr id="12" name="Text 7"/>
          <p:cNvSpPr txBox="1"/>
          <p:nvPr/>
        </p:nvSpPr>
        <p:spPr>
          <a:xfrm>
            <a:off x="1115568" y="3086100"/>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Usability Review —  </a:t>
            </a:r>
            <a:r>
              <a:rPr lang="en-US" sz="1300" dirty="0">
                <a:solidFill>
                  <a:srgbClr val="33394A"/>
                </a:solidFill>
                <a:latin typeface="Calibri" pitchFamily="34" charset="0"/>
                <a:ea typeface="Calibri" pitchFamily="34" charset="-122"/>
                <a:cs typeface="Calibri" pitchFamily="34" charset="-120"/>
              </a:rPr>
              <a:t>Checked that unexpected user input did not cause crashes or confusing behavior.</a:t>
            </a:r>
            <a:endParaRPr lang="en-US" sz="1300" dirty="0"/>
          </a:p>
        </p:txBody>
      </p:sp>
      <p:sp>
        <p:nvSpPr>
          <p:cNvPr id="13" name="Shape 8"/>
          <p:cNvSpPr/>
          <p:nvPr/>
        </p:nvSpPr>
        <p:spPr>
          <a:xfrm>
            <a:off x="548640" y="3831336"/>
            <a:ext cx="384048" cy="384048"/>
          </a:xfrm>
          <a:prstGeom prst="ellipse">
            <a:avLst/>
          </a:prstGeom>
          <a:solidFill>
            <a:srgbClr val="1E2761"/>
          </a:solidFill>
          <a:ln/>
        </p:spPr>
      </p:sp>
      <p:pic>
        <p:nvPicPr>
          <p:cNvPr id="14" name="Image 3" descr="/home/claude/work/icons_gen/shield.png"/>
          <p:cNvPicPr>
            <a:picLocks noChangeAspect="1"/>
          </p:cNvPicPr>
          <p:nvPr/>
        </p:nvPicPr>
        <p:blipFill>
          <a:blip r:embed="rId6"/>
          <a:stretch>
            <a:fillRect/>
          </a:stretch>
        </p:blipFill>
        <p:spPr>
          <a:xfrm>
            <a:off x="621792" y="3904488"/>
            <a:ext cx="237744" cy="237744"/>
          </a:xfrm>
          <a:prstGeom prst="rect">
            <a:avLst/>
          </a:prstGeom>
        </p:spPr>
      </p:pic>
      <p:sp>
        <p:nvSpPr>
          <p:cNvPr id="15" name="Text 9"/>
          <p:cNvSpPr txBox="1"/>
          <p:nvPr/>
        </p:nvSpPr>
        <p:spPr>
          <a:xfrm>
            <a:off x="1115568" y="3776472"/>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Security Vulnerabilities —  </a:t>
            </a:r>
            <a:r>
              <a:rPr lang="en-US" sz="1300" dirty="0">
                <a:solidFill>
                  <a:srgbClr val="33394A"/>
                </a:solidFill>
                <a:latin typeface="Calibri" pitchFamily="34" charset="0"/>
                <a:ea typeface="Calibri" pitchFamily="34" charset="-122"/>
                <a:cs typeface="Calibri" pitchFamily="34" charset="-120"/>
              </a:rPr>
              <a:t>Identified weaknesses that could expose sensitive information or application resources.</a:t>
            </a:r>
            <a:endParaRPr lang="en-US" sz="1300" dirty="0"/>
          </a:p>
        </p:txBody>
      </p:sp>
      <p:sp>
        <p:nvSpPr>
          <p:cNvPr id="16" name="Shape 10"/>
          <p:cNvSpPr/>
          <p:nvPr/>
        </p:nvSpPr>
        <p:spPr>
          <a:xfrm>
            <a:off x="548640" y="4521708"/>
            <a:ext cx="384048" cy="384048"/>
          </a:xfrm>
          <a:prstGeom prst="ellipse">
            <a:avLst/>
          </a:prstGeom>
          <a:solidFill>
            <a:srgbClr val="1E2761"/>
          </a:solidFill>
          <a:ln/>
        </p:spPr>
      </p:sp>
      <p:pic>
        <p:nvPicPr>
          <p:cNvPr id="17" name="Image 4" descr="/home/claude/work/icons_gen/robot.png"/>
          <p:cNvPicPr>
            <a:picLocks noChangeAspect="1"/>
          </p:cNvPicPr>
          <p:nvPr/>
        </p:nvPicPr>
        <p:blipFill>
          <a:blip r:embed="rId7"/>
          <a:stretch>
            <a:fillRect/>
          </a:stretch>
        </p:blipFill>
        <p:spPr>
          <a:xfrm>
            <a:off x="621792" y="4594860"/>
            <a:ext cx="237744" cy="237744"/>
          </a:xfrm>
          <a:prstGeom prst="rect">
            <a:avLst/>
          </a:prstGeom>
        </p:spPr>
      </p:pic>
      <p:sp>
        <p:nvSpPr>
          <p:cNvPr id="18" name="Text 11"/>
          <p:cNvSpPr txBox="1"/>
          <p:nvPr/>
        </p:nvSpPr>
        <p:spPr>
          <a:xfrm>
            <a:off x="1115568" y="4466844"/>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AI-Assisted Support —  </a:t>
            </a:r>
            <a:r>
              <a:rPr lang="en-US" sz="1300" dirty="0">
                <a:solidFill>
                  <a:srgbClr val="33394A"/>
                </a:solidFill>
                <a:latin typeface="Calibri" pitchFamily="34" charset="0"/>
                <a:ea typeface="Calibri" pitchFamily="34" charset="-122"/>
                <a:cs typeface="Calibri" pitchFamily="34" charset="-120"/>
              </a:rPr>
              <a:t>AI tools helped identify weaknesses, recommend fixes, and improve overall reliability.</a:t>
            </a:r>
            <a:endParaRPr lang="en-US" sz="1300" dirty="0"/>
          </a:p>
        </p:txBody>
      </p:sp>
      <p:sp>
        <p:nvSpPr>
          <p:cNvPr id="19" name="Text 12"/>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20" name="Shape 13"/>
          <p:cNvSpPr/>
          <p:nvPr/>
        </p:nvSpPr>
        <p:spPr>
          <a:xfrm>
            <a:off x="11475720" y="6446520"/>
            <a:ext cx="310896" cy="310896"/>
          </a:xfrm>
          <a:prstGeom prst="ellipse">
            <a:avLst/>
          </a:prstGeom>
          <a:solidFill>
            <a:srgbClr val="1E2761"/>
          </a:solidFill>
          <a:ln/>
        </p:spPr>
      </p:sp>
      <p:sp>
        <p:nvSpPr>
          <p:cNvPr id="21" name="Text 14"/>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TESTING PROCESS</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Building and Running the Checklist</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checklist.png"/>
          <p:cNvPicPr>
            <a:picLocks noChangeAspect="1"/>
          </p:cNvPicPr>
          <p:nvPr/>
        </p:nvPicPr>
        <p:blipFill>
          <a:blip r:embed="rId3"/>
          <a:stretch>
            <a:fillRect/>
          </a:stretch>
        </p:blipFill>
        <p:spPr>
          <a:xfrm>
            <a:off x="11018520" y="640080"/>
            <a:ext cx="457200" cy="457200"/>
          </a:xfrm>
          <a:prstGeom prst="rect">
            <a:avLst/>
          </a:prstGeom>
        </p:spPr>
      </p:pic>
      <p:sp>
        <p:nvSpPr>
          <p:cNvPr id="6" name="Text 3"/>
          <p:cNvSpPr txBox="1"/>
          <p:nvPr/>
        </p:nvSpPr>
        <p:spPr>
          <a:xfrm>
            <a:off x="548640" y="1481328"/>
            <a:ext cx="11064240" cy="822960"/>
          </a:xfrm>
          <a:prstGeom prst="rect">
            <a:avLst/>
          </a:prstGeom>
          <a:noFill/>
          <a:ln/>
        </p:spPr>
        <p:txBody>
          <a:bodyPr wrap="square" lIns="0" tIns="0" rIns="0" bIns="0" rtlCol="0" anchor="t"/>
          <a:lstStyle/>
          <a:p>
            <a:pPr marL="0" indent="0" algn="l">
              <a:lnSpc>
                <a:spcPct val="120000"/>
              </a:lnSpc>
              <a:buNone/>
            </a:pPr>
            <a:r>
              <a:rPr lang="en-US" sz="1350" dirty="0">
                <a:solidFill>
                  <a:srgbClr val="33394A"/>
                </a:solidFill>
                <a:latin typeface="Calibri" pitchFamily="34" charset="0"/>
                <a:ea typeface="Calibri" pitchFamily="34" charset="-122"/>
                <a:cs typeface="Calibri" pitchFamily="34" charset="-120"/>
              </a:rPr>
              <a:t>A complete testing checklist was created to review the application's major functions systematically, rather than limiting testing to normal user interactions. [1]</a:t>
            </a:r>
            <a:endParaRPr lang="en-US" sz="1350" dirty="0"/>
          </a:p>
        </p:txBody>
      </p:sp>
      <p:sp>
        <p:nvSpPr>
          <p:cNvPr id="7" name="Shape 4"/>
          <p:cNvSpPr/>
          <p:nvPr/>
        </p:nvSpPr>
        <p:spPr>
          <a:xfrm>
            <a:off x="548640" y="2450592"/>
            <a:ext cx="384048" cy="384048"/>
          </a:xfrm>
          <a:prstGeom prst="ellipse">
            <a:avLst/>
          </a:prstGeom>
          <a:solidFill>
            <a:srgbClr val="1E2761"/>
          </a:solidFill>
          <a:ln/>
        </p:spPr>
      </p:sp>
      <p:pic>
        <p:nvPicPr>
          <p:cNvPr id="8" name="Image 1" descr="/home/claude/work/icons_gen/compass.png"/>
          <p:cNvPicPr>
            <a:picLocks noChangeAspect="1"/>
          </p:cNvPicPr>
          <p:nvPr/>
        </p:nvPicPr>
        <p:blipFill>
          <a:blip r:embed="rId4"/>
          <a:stretch>
            <a:fillRect/>
          </a:stretch>
        </p:blipFill>
        <p:spPr>
          <a:xfrm>
            <a:off x="621792" y="2523744"/>
            <a:ext cx="237744" cy="237744"/>
          </a:xfrm>
          <a:prstGeom prst="rect">
            <a:avLst/>
          </a:prstGeom>
        </p:spPr>
      </p:pic>
      <p:sp>
        <p:nvSpPr>
          <p:cNvPr id="9" name="Text 5"/>
          <p:cNvSpPr txBox="1"/>
          <p:nvPr/>
        </p:nvSpPr>
        <p:spPr>
          <a:xfrm>
            <a:off x="1115568" y="2395728"/>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Navigation &amp; Links —  </a:t>
            </a:r>
            <a:r>
              <a:rPr lang="en-US" sz="1300" dirty="0">
                <a:solidFill>
                  <a:srgbClr val="33394A"/>
                </a:solidFill>
                <a:latin typeface="Calibri" pitchFamily="34" charset="0"/>
                <a:ea typeface="Calibri" pitchFamily="34" charset="-122"/>
                <a:cs typeface="Calibri" pitchFamily="34" charset="-120"/>
              </a:rPr>
              <a:t>Buttons and links were tested to confirm they directed users to the correct pages.</a:t>
            </a:r>
            <a:endParaRPr lang="en-US" sz="1300" dirty="0"/>
          </a:p>
        </p:txBody>
      </p:sp>
      <p:sp>
        <p:nvSpPr>
          <p:cNvPr id="10" name="Shape 6"/>
          <p:cNvSpPr/>
          <p:nvPr/>
        </p:nvSpPr>
        <p:spPr>
          <a:xfrm>
            <a:off x="548640" y="3140964"/>
            <a:ext cx="384048" cy="384048"/>
          </a:xfrm>
          <a:prstGeom prst="ellipse">
            <a:avLst/>
          </a:prstGeom>
          <a:solidFill>
            <a:srgbClr val="1E2761"/>
          </a:solidFill>
          <a:ln/>
        </p:spPr>
      </p:sp>
      <p:pic>
        <p:nvPicPr>
          <p:cNvPr id="11" name="Image 2" descr="/home/claude/work/icons_gen/wpforms.png"/>
          <p:cNvPicPr>
            <a:picLocks noChangeAspect="1"/>
          </p:cNvPicPr>
          <p:nvPr/>
        </p:nvPicPr>
        <p:blipFill>
          <a:blip r:embed="rId5"/>
          <a:stretch>
            <a:fillRect/>
          </a:stretch>
        </p:blipFill>
        <p:spPr>
          <a:xfrm>
            <a:off x="621792" y="3214116"/>
            <a:ext cx="237744" cy="237744"/>
          </a:xfrm>
          <a:prstGeom prst="rect">
            <a:avLst/>
          </a:prstGeom>
        </p:spPr>
      </p:pic>
      <p:sp>
        <p:nvSpPr>
          <p:cNvPr id="12" name="Text 7"/>
          <p:cNvSpPr txBox="1"/>
          <p:nvPr/>
        </p:nvSpPr>
        <p:spPr>
          <a:xfrm>
            <a:off x="1115568" y="3086100"/>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Form Validation —  </a:t>
            </a:r>
            <a:r>
              <a:rPr lang="en-US" sz="1300" dirty="0">
                <a:solidFill>
                  <a:srgbClr val="33394A"/>
                </a:solidFill>
                <a:latin typeface="Calibri" pitchFamily="34" charset="0"/>
                <a:ea typeface="Calibri" pitchFamily="34" charset="-122"/>
                <a:cs typeface="Calibri" pitchFamily="34" charset="-120"/>
              </a:rPr>
              <a:t>Forms were tested with valid and invalid information, including empty fields and unusual entries.</a:t>
            </a:r>
            <a:endParaRPr lang="en-US" sz="1300" dirty="0"/>
          </a:p>
        </p:txBody>
      </p:sp>
      <p:sp>
        <p:nvSpPr>
          <p:cNvPr id="13" name="Shape 8"/>
          <p:cNvSpPr/>
          <p:nvPr/>
        </p:nvSpPr>
        <p:spPr>
          <a:xfrm>
            <a:off x="548640" y="3831336"/>
            <a:ext cx="384048" cy="384048"/>
          </a:xfrm>
          <a:prstGeom prst="ellipse">
            <a:avLst/>
          </a:prstGeom>
          <a:solidFill>
            <a:srgbClr val="1E2761"/>
          </a:solidFill>
          <a:ln/>
        </p:spPr>
      </p:sp>
      <p:pic>
        <p:nvPicPr>
          <p:cNvPr id="14" name="Image 3" descr="/home/claude/work/icons_gen/projectdiagram.png"/>
          <p:cNvPicPr>
            <a:picLocks noChangeAspect="1"/>
          </p:cNvPicPr>
          <p:nvPr/>
        </p:nvPicPr>
        <p:blipFill>
          <a:blip r:embed="rId6"/>
          <a:stretch>
            <a:fillRect/>
          </a:stretch>
        </p:blipFill>
        <p:spPr>
          <a:xfrm>
            <a:off x="621792" y="3904488"/>
            <a:ext cx="237744" cy="237744"/>
          </a:xfrm>
          <a:prstGeom prst="rect">
            <a:avLst/>
          </a:prstGeom>
        </p:spPr>
      </p:pic>
      <p:sp>
        <p:nvSpPr>
          <p:cNvPr id="15" name="Text 9"/>
          <p:cNvSpPr txBox="1"/>
          <p:nvPr/>
        </p:nvSpPr>
        <p:spPr>
          <a:xfrm>
            <a:off x="1115568" y="3776472"/>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End-to-End Workflows —  </a:t>
            </a:r>
            <a:r>
              <a:rPr lang="en-US" sz="1300" dirty="0">
                <a:solidFill>
                  <a:srgbClr val="33394A"/>
                </a:solidFill>
                <a:latin typeface="Calibri" pitchFamily="34" charset="0"/>
                <a:ea typeface="Calibri" pitchFamily="34" charset="-122"/>
                <a:cs typeface="Calibri" pitchFamily="34" charset="-120"/>
              </a:rPr>
              <a:t>Submit, save, update, delete, and cancel actions were each checked individually.</a:t>
            </a:r>
            <a:endParaRPr lang="en-US" sz="1300" dirty="0"/>
          </a:p>
        </p:txBody>
      </p:sp>
      <p:sp>
        <p:nvSpPr>
          <p:cNvPr id="16" name="Shape 10"/>
          <p:cNvSpPr/>
          <p:nvPr/>
        </p:nvSpPr>
        <p:spPr>
          <a:xfrm>
            <a:off x="548640" y="4521708"/>
            <a:ext cx="384048" cy="384048"/>
          </a:xfrm>
          <a:prstGeom prst="ellipse">
            <a:avLst/>
          </a:prstGeom>
          <a:solidFill>
            <a:srgbClr val="1E2761"/>
          </a:solidFill>
          <a:ln/>
        </p:spPr>
      </p:sp>
      <p:pic>
        <p:nvPicPr>
          <p:cNvPr id="17" name="Image 4" descr="/home/claude/work/icons_gen/exclamationtriangle.png"/>
          <p:cNvPicPr>
            <a:picLocks noChangeAspect="1"/>
          </p:cNvPicPr>
          <p:nvPr/>
        </p:nvPicPr>
        <p:blipFill>
          <a:blip r:embed="rId7"/>
          <a:stretch>
            <a:fillRect/>
          </a:stretch>
        </p:blipFill>
        <p:spPr>
          <a:xfrm>
            <a:off x="621792" y="4594860"/>
            <a:ext cx="237744" cy="237744"/>
          </a:xfrm>
          <a:prstGeom prst="rect">
            <a:avLst/>
          </a:prstGeom>
        </p:spPr>
      </p:pic>
      <p:sp>
        <p:nvSpPr>
          <p:cNvPr id="18" name="Text 11"/>
          <p:cNvSpPr txBox="1"/>
          <p:nvPr/>
        </p:nvSpPr>
        <p:spPr>
          <a:xfrm>
            <a:off x="1115568" y="4466844"/>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Error Messages &amp; Responsiveness —  </a:t>
            </a:r>
            <a:r>
              <a:rPr lang="en-US" sz="1300" dirty="0">
                <a:solidFill>
                  <a:srgbClr val="33394A"/>
                </a:solidFill>
                <a:latin typeface="Calibri" pitchFamily="34" charset="0"/>
                <a:ea typeface="Calibri" pitchFamily="34" charset="-122"/>
                <a:cs typeface="Calibri" pitchFamily="34" charset="-120"/>
              </a:rPr>
              <a:t>Error messages were reviewed for clarity, and the interface was tested across screen sizes and network conditions.</a:t>
            </a:r>
            <a:endParaRPr lang="en-US" sz="1300" dirty="0"/>
          </a:p>
        </p:txBody>
      </p:sp>
      <p:sp>
        <p:nvSpPr>
          <p:cNvPr id="19" name="Text 12"/>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20" name="Shape 13"/>
          <p:cNvSpPr/>
          <p:nvPr/>
        </p:nvSpPr>
        <p:spPr>
          <a:xfrm>
            <a:off x="11475720" y="6446520"/>
            <a:ext cx="310896" cy="310896"/>
          </a:xfrm>
          <a:prstGeom prst="ellipse">
            <a:avLst/>
          </a:prstGeom>
          <a:solidFill>
            <a:srgbClr val="1E2761"/>
          </a:solidFill>
          <a:ln/>
        </p:spPr>
      </p:sp>
      <p:sp>
        <p:nvSpPr>
          <p:cNvPr id="21" name="Text 14"/>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FINDINGS</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Bugs Discovered and Fixed</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bug.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bug.png"/>
          <p:cNvPicPr>
            <a:picLocks noChangeAspect="1"/>
          </p:cNvPicPr>
          <p:nvPr/>
        </p:nvPicPr>
        <p:blipFill>
          <a:blip r:embed="rId3"/>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What We Found</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Invalid form submissions produced unexpected behavior when required information was missing or incorrectly formatted. [1][3] Application actions were also tested against unexpected values that could cause failures.</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checkdouble.png"/>
          <p:cNvPicPr>
            <a:picLocks noChangeAspect="1"/>
          </p:cNvPicPr>
          <p:nvPr/>
        </p:nvPicPr>
        <p:blipFill>
          <a:blip r:embed="rId4"/>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How We Fixed It</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Validation and user-friendly error messages were added, error-handling was strengthened, and navigation inconsistencies were corrected. Every fix was retested to confirm it worked without introducing new problems.</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SECURITY REVIEW</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Vulnerabilities Identified and Resolved</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shield.png"/>
          <p:cNvPicPr>
            <a:picLocks noChangeAspect="1"/>
          </p:cNvPicPr>
          <p:nvPr/>
        </p:nvPicPr>
        <p:blipFill>
          <a:blip r:embed="rId3"/>
          <a:stretch>
            <a:fillRect/>
          </a:stretch>
        </p:blipFill>
        <p:spPr>
          <a:xfrm>
            <a:off x="11018520" y="640080"/>
            <a:ext cx="457200" cy="457200"/>
          </a:xfrm>
          <a:prstGeom prst="rect">
            <a:avLst/>
          </a:prstGeom>
        </p:spPr>
      </p:pic>
      <p:sp>
        <p:nvSpPr>
          <p:cNvPr id="6" name="Text 3"/>
          <p:cNvSpPr txBox="1"/>
          <p:nvPr/>
        </p:nvSpPr>
        <p:spPr>
          <a:xfrm>
            <a:off x="548640" y="1481328"/>
            <a:ext cx="11064240" cy="822960"/>
          </a:xfrm>
          <a:prstGeom prst="rect">
            <a:avLst/>
          </a:prstGeom>
          <a:noFill/>
          <a:ln/>
        </p:spPr>
        <p:txBody>
          <a:bodyPr wrap="square" lIns="0" tIns="0" rIns="0" bIns="0" rtlCol="0" anchor="t"/>
          <a:lstStyle/>
          <a:p>
            <a:pPr marL="0" indent="0" algn="l">
              <a:lnSpc>
                <a:spcPct val="120000"/>
              </a:lnSpc>
              <a:buNone/>
            </a:pPr>
            <a:r>
              <a:rPr lang="en-US" sz="1350" dirty="0">
                <a:solidFill>
                  <a:srgbClr val="33394A"/>
                </a:solidFill>
                <a:latin typeface="Calibri" pitchFamily="34" charset="0"/>
                <a:ea typeface="Calibri" pitchFamily="34" charset="-122"/>
                <a:cs typeface="Calibri" pitchFamily="34" charset="-120"/>
              </a:rPr>
              <a:t>A security review was carried out to identify common application vulnerabilities, with particular attention to exposed API keys, passwords, and other sensitive configuration information. [2]</a:t>
            </a:r>
            <a:endParaRPr lang="en-US" sz="1350" dirty="0"/>
          </a:p>
        </p:txBody>
      </p:sp>
      <p:sp>
        <p:nvSpPr>
          <p:cNvPr id="7" name="Shape 4"/>
          <p:cNvSpPr/>
          <p:nvPr/>
        </p:nvSpPr>
        <p:spPr>
          <a:xfrm>
            <a:off x="548640" y="2450592"/>
            <a:ext cx="384048" cy="384048"/>
          </a:xfrm>
          <a:prstGeom prst="ellipse">
            <a:avLst/>
          </a:prstGeom>
          <a:solidFill>
            <a:srgbClr val="1E2761"/>
          </a:solidFill>
          <a:ln/>
        </p:spPr>
      </p:sp>
      <p:pic>
        <p:nvPicPr>
          <p:cNvPr id="8" name="Image 1" descr="/home/claude/work/icons_gen/key.png"/>
          <p:cNvPicPr>
            <a:picLocks noChangeAspect="1"/>
          </p:cNvPicPr>
          <p:nvPr/>
        </p:nvPicPr>
        <p:blipFill>
          <a:blip r:embed="rId4"/>
          <a:stretch>
            <a:fillRect/>
          </a:stretch>
        </p:blipFill>
        <p:spPr>
          <a:xfrm>
            <a:off x="621792" y="2523744"/>
            <a:ext cx="237744" cy="237744"/>
          </a:xfrm>
          <a:prstGeom prst="rect">
            <a:avLst/>
          </a:prstGeom>
        </p:spPr>
      </p:pic>
      <p:sp>
        <p:nvSpPr>
          <p:cNvPr id="9" name="Text 5"/>
          <p:cNvSpPr txBox="1"/>
          <p:nvPr/>
        </p:nvSpPr>
        <p:spPr>
          <a:xfrm>
            <a:off x="1115568" y="2395728"/>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Protecting Secrets —  </a:t>
            </a:r>
            <a:r>
              <a:rPr lang="en-US" sz="1300" dirty="0">
                <a:solidFill>
                  <a:srgbClr val="33394A"/>
                </a:solidFill>
                <a:latin typeface="Calibri" pitchFamily="34" charset="0"/>
                <a:ea typeface="Calibri" pitchFamily="34" charset="-122"/>
                <a:cs typeface="Calibri" pitchFamily="34" charset="-120"/>
              </a:rPr>
              <a:t>Sensitive values were protected through appropriate configuration practices rather than being exposed in code.</a:t>
            </a:r>
            <a:endParaRPr lang="en-US" sz="1300" dirty="0"/>
          </a:p>
        </p:txBody>
      </p:sp>
      <p:sp>
        <p:nvSpPr>
          <p:cNvPr id="10" name="Shape 6"/>
          <p:cNvSpPr/>
          <p:nvPr/>
        </p:nvSpPr>
        <p:spPr>
          <a:xfrm>
            <a:off x="548640" y="3140964"/>
            <a:ext cx="384048" cy="384048"/>
          </a:xfrm>
          <a:prstGeom prst="ellipse">
            <a:avLst/>
          </a:prstGeom>
          <a:solidFill>
            <a:srgbClr val="1E2761"/>
          </a:solidFill>
          <a:ln/>
        </p:spPr>
      </p:sp>
      <p:pic>
        <p:nvPicPr>
          <p:cNvPr id="11" name="Image 2" descr="/home/claude/work/icons_gen/filter.png"/>
          <p:cNvPicPr>
            <a:picLocks noChangeAspect="1"/>
          </p:cNvPicPr>
          <p:nvPr/>
        </p:nvPicPr>
        <p:blipFill>
          <a:blip r:embed="rId5"/>
          <a:stretch>
            <a:fillRect/>
          </a:stretch>
        </p:blipFill>
        <p:spPr>
          <a:xfrm>
            <a:off x="621792" y="3214116"/>
            <a:ext cx="237744" cy="237744"/>
          </a:xfrm>
          <a:prstGeom prst="rect">
            <a:avLst/>
          </a:prstGeom>
        </p:spPr>
      </p:pic>
      <p:sp>
        <p:nvSpPr>
          <p:cNvPr id="12" name="Text 7"/>
          <p:cNvSpPr txBox="1"/>
          <p:nvPr/>
        </p:nvSpPr>
        <p:spPr>
          <a:xfrm>
            <a:off x="1115568" y="3086100"/>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Input Validation —  </a:t>
            </a:r>
            <a:r>
              <a:rPr lang="en-US" sz="1300" dirty="0">
                <a:solidFill>
                  <a:srgbClr val="33394A"/>
                </a:solidFill>
                <a:latin typeface="Calibri" pitchFamily="34" charset="0"/>
                <a:ea typeface="Calibri" pitchFamily="34" charset="-122"/>
                <a:cs typeface="Calibri" pitchFamily="34" charset="-120"/>
              </a:rPr>
              <a:t>Validation was strengthened to reduce the risk of malicious or unexpected data entering the application.</a:t>
            </a:r>
            <a:endParaRPr lang="en-US" sz="1300" dirty="0"/>
          </a:p>
        </p:txBody>
      </p:sp>
      <p:sp>
        <p:nvSpPr>
          <p:cNvPr id="13" name="Shape 8"/>
          <p:cNvSpPr/>
          <p:nvPr/>
        </p:nvSpPr>
        <p:spPr>
          <a:xfrm>
            <a:off x="548640" y="3831336"/>
            <a:ext cx="384048" cy="384048"/>
          </a:xfrm>
          <a:prstGeom prst="ellipse">
            <a:avLst/>
          </a:prstGeom>
          <a:solidFill>
            <a:srgbClr val="1E2761"/>
          </a:solidFill>
          <a:ln/>
        </p:spPr>
      </p:sp>
      <p:pic>
        <p:nvPicPr>
          <p:cNvPr id="14" name="Image 3" descr="/home/claude/work/icons_gen/database.png"/>
          <p:cNvPicPr>
            <a:picLocks noChangeAspect="1"/>
          </p:cNvPicPr>
          <p:nvPr/>
        </p:nvPicPr>
        <p:blipFill>
          <a:blip r:embed="rId6"/>
          <a:stretch>
            <a:fillRect/>
          </a:stretch>
        </p:blipFill>
        <p:spPr>
          <a:xfrm>
            <a:off x="621792" y="3904488"/>
            <a:ext cx="237744" cy="237744"/>
          </a:xfrm>
          <a:prstGeom prst="rect">
            <a:avLst/>
          </a:prstGeom>
        </p:spPr>
      </p:pic>
      <p:sp>
        <p:nvSpPr>
          <p:cNvPr id="15" name="Text 9"/>
          <p:cNvSpPr txBox="1"/>
          <p:nvPr/>
        </p:nvSpPr>
        <p:spPr>
          <a:xfrm>
            <a:off x="1115568" y="3776472"/>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SQL Injection Risks —  </a:t>
            </a:r>
            <a:r>
              <a:rPr lang="en-US" sz="1300" dirty="0">
                <a:solidFill>
                  <a:srgbClr val="33394A"/>
                </a:solidFill>
                <a:latin typeface="Calibri" pitchFamily="34" charset="0"/>
                <a:ea typeface="Calibri" pitchFamily="34" charset="-122"/>
                <a:cs typeface="Calibri" pitchFamily="34" charset="-120"/>
              </a:rPr>
              <a:t>Database-related functionality was reviewed for injection risk, and safer methods were applied where needed.</a:t>
            </a:r>
            <a:endParaRPr lang="en-US" sz="1300" dirty="0"/>
          </a:p>
        </p:txBody>
      </p:sp>
      <p:sp>
        <p:nvSpPr>
          <p:cNvPr id="16" name="Shape 10"/>
          <p:cNvSpPr/>
          <p:nvPr/>
        </p:nvSpPr>
        <p:spPr>
          <a:xfrm>
            <a:off x="548640" y="4521708"/>
            <a:ext cx="384048" cy="384048"/>
          </a:xfrm>
          <a:prstGeom prst="ellipse">
            <a:avLst/>
          </a:prstGeom>
          <a:solidFill>
            <a:srgbClr val="1E2761"/>
          </a:solidFill>
          <a:ln/>
        </p:spPr>
      </p:sp>
      <p:pic>
        <p:nvPicPr>
          <p:cNvPr id="17" name="Image 4" descr="/home/claude/work/icons_gen/lock.png"/>
          <p:cNvPicPr>
            <a:picLocks noChangeAspect="1"/>
          </p:cNvPicPr>
          <p:nvPr/>
        </p:nvPicPr>
        <p:blipFill>
          <a:blip r:embed="rId7"/>
          <a:stretch>
            <a:fillRect/>
          </a:stretch>
        </p:blipFill>
        <p:spPr>
          <a:xfrm>
            <a:off x="621792" y="4594860"/>
            <a:ext cx="237744" cy="237744"/>
          </a:xfrm>
          <a:prstGeom prst="rect">
            <a:avLst/>
          </a:prstGeom>
        </p:spPr>
      </p:pic>
      <p:sp>
        <p:nvSpPr>
          <p:cNvPr id="18" name="Text 11"/>
          <p:cNvSpPr txBox="1"/>
          <p:nvPr/>
        </p:nvSpPr>
        <p:spPr>
          <a:xfrm>
            <a:off x="1115568" y="4466844"/>
            <a:ext cx="10497312" cy="566928"/>
          </a:xfrm>
          <a:prstGeom prst="rect">
            <a:avLst/>
          </a:prstGeom>
          <a:noFill/>
          <a:ln/>
        </p:spPr>
        <p:txBody>
          <a:bodyPr wrap="square" lIns="0" tIns="0" rIns="0" bIns="0" rtlCol="0" anchor="t"/>
          <a:lstStyle/>
          <a:p>
            <a:pPr marL="0" indent="0" algn="l">
              <a:lnSpc>
                <a:spcPct val="112000"/>
              </a:lnSpc>
              <a:buNone/>
            </a:pPr>
            <a:r>
              <a:rPr lang="en-US" sz="1300" b="1" dirty="0">
                <a:solidFill>
                  <a:srgbClr val="1E2761"/>
                </a:solidFill>
                <a:latin typeface="Calibri" pitchFamily="34" charset="0"/>
                <a:ea typeface="Calibri" pitchFamily="34" charset="-122"/>
                <a:cs typeface="Calibri" pitchFamily="34" charset="-120"/>
              </a:rPr>
              <a:t>Data Exposure —  </a:t>
            </a:r>
            <a:r>
              <a:rPr lang="en-US" sz="1300" dirty="0">
                <a:solidFill>
                  <a:srgbClr val="33394A"/>
                </a:solidFill>
                <a:latin typeface="Calibri" pitchFamily="34" charset="0"/>
                <a:ea typeface="Calibri" pitchFamily="34" charset="-122"/>
                <a:cs typeface="Calibri" pitchFamily="34" charset="-120"/>
              </a:rPr>
              <a:t>Data handling was examined to ensure sensitive information was not unnecessarily displayed, stored, or exposed.</a:t>
            </a:r>
            <a:endParaRPr lang="en-US" sz="1300" dirty="0"/>
          </a:p>
        </p:txBody>
      </p:sp>
      <p:sp>
        <p:nvSpPr>
          <p:cNvPr id="19" name="Text 12"/>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20" name="Shape 13"/>
          <p:cNvSpPr/>
          <p:nvPr/>
        </p:nvSpPr>
        <p:spPr>
          <a:xfrm>
            <a:off x="11475720" y="6446520"/>
            <a:ext cx="310896" cy="310896"/>
          </a:xfrm>
          <a:prstGeom prst="ellipse">
            <a:avLst/>
          </a:prstGeom>
          <a:solidFill>
            <a:srgbClr val="1E2761"/>
          </a:solidFill>
          <a:ln/>
        </p:spPr>
      </p:sp>
      <p:sp>
        <p:nvSpPr>
          <p:cNvPr id="21" name="Text 14"/>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ACCESSIBILITY</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Accessibility Features Added</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access.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keyboard.png"/>
          <p:cNvPicPr>
            <a:picLocks noChangeAspect="1"/>
          </p:cNvPicPr>
          <p:nvPr/>
        </p:nvPicPr>
        <p:blipFill>
          <a:blip r:embed="rId4"/>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Clear Labels &amp; Navigation</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Form fields were reviewed to ensure clear labels and understandable instructions, and keyboard navigation was tested so users could move through key interface elements without relying entirely on a mouse.</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commentdots.png"/>
          <p:cNvPicPr>
            <a:picLocks noChangeAspect="1"/>
          </p:cNvPicPr>
          <p:nvPr/>
        </p:nvPicPr>
        <p:blipFill>
          <a:blip r:embed="rId5"/>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Understandable Feedback</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Buttons and controls were reviewed for clear names and understandable functions, and error messages were improved so users could understand what went wrong and how to correct it.</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REFLECTION</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The Most Critical Bug We Fixed</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wrench.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bug.png"/>
          <p:cNvPicPr>
            <a:picLocks noChangeAspect="1"/>
          </p:cNvPicPr>
          <p:nvPr/>
        </p:nvPicPr>
        <p:blipFill>
          <a:blip r:embed="rId4"/>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The Problem</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Incorrect or incomplete form input could cause the application to behave unexpectedly instead of showing a clear message, which could hurt the user experience and, in some cases, cause errors.</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checkcircle.png"/>
          <p:cNvPicPr>
            <a:picLocks noChangeAspect="1"/>
          </p:cNvPicPr>
          <p:nvPr/>
        </p:nvPicPr>
        <p:blipFill>
          <a:blip r:embed="rId5"/>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The Fix</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Stronger input validation and error-handling mechanisms were added, then the form was retested using valid, invalid, empty, and unusual inputs to confirm correct behavior without crashing.</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REFLECTION</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The Most Important Security Issue We Resolved</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key.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key.png"/>
          <p:cNvPicPr>
            <a:picLocks noChangeAspect="1"/>
          </p:cNvPicPr>
          <p:nvPr/>
        </p:nvPicPr>
        <p:blipFill>
          <a:blip r:embed="rId3"/>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The Risk</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The potential exposure of sensitive application information, including configuration values and secrets, could have allowed unauthorized users to access application resources or misuse connected services.</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lock.png"/>
          <p:cNvPicPr>
            <a:picLocks noChangeAspect="1"/>
          </p:cNvPicPr>
          <p:nvPr/>
        </p:nvPicPr>
        <p:blipFill>
          <a:blip r:embed="rId4"/>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The Resolution</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Configuration and data-handling practices were improved, and user inputs and database interactions were reviewed to reduce the risk of injection attacks and other common security problems.</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REFLECTION</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How AI Helped With Testing and Security</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robot.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robot.png"/>
          <p:cNvPicPr>
            <a:picLocks noChangeAspect="1"/>
          </p:cNvPicPr>
          <p:nvPr/>
        </p:nvPicPr>
        <p:blipFill>
          <a:blip r:embed="rId3"/>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Where AI Helped</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AI helped create a comprehensive testing checklist and identify areas needing additional attention, considering unusual inputs, error conditions, security vulnerabilities, and accessibility concerns.</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usercheck.png"/>
          <p:cNvPicPr>
            <a:picLocks noChangeAspect="1"/>
          </p:cNvPicPr>
          <p:nvPr/>
        </p:nvPicPr>
        <p:blipFill>
          <a:blip r:embed="rId4"/>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Human Oversight</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AI also suggested solutions for bugs and security weaknesses, but every suggested change was still tested and reviewed by us before being implemented.</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REFLECTION &amp; CONCLUSION</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Biggest Challenges and What We Took Away</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flag.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7" name="Shape 4"/>
          <p:cNvSpPr/>
          <p:nvPr/>
        </p:nvSpPr>
        <p:spPr>
          <a:xfrm>
            <a:off x="868680" y="2057400"/>
            <a:ext cx="566928" cy="566928"/>
          </a:xfrm>
          <a:prstGeom prst="ellipse">
            <a:avLst/>
          </a:prstGeom>
          <a:solidFill>
            <a:srgbClr val="1E2761"/>
          </a:solidFill>
          <a:ln/>
        </p:spPr>
      </p:sp>
      <p:pic>
        <p:nvPicPr>
          <p:cNvPr id="8" name="Image 1" descr="/home/claude/work/icons_gen/mountain.png"/>
          <p:cNvPicPr>
            <a:picLocks noChangeAspect="1"/>
          </p:cNvPicPr>
          <p:nvPr/>
        </p:nvPicPr>
        <p:blipFill>
          <a:blip r:embed="rId4"/>
          <a:stretch>
            <a:fillRect/>
          </a:stretch>
        </p:blipFill>
        <p:spPr>
          <a:xfrm>
            <a:off x="1014984" y="2203704"/>
            <a:ext cx="274320" cy="274320"/>
          </a:xfrm>
          <a:prstGeom prst="rect">
            <a:avLst/>
          </a:prstGeom>
        </p:spPr>
      </p:pic>
      <p:sp>
        <p:nvSpPr>
          <p:cNvPr id="9" name="Text 5"/>
          <p:cNvSpPr txBox="1"/>
          <p:nvPr/>
        </p:nvSpPr>
        <p:spPr>
          <a:xfrm>
            <a:off x="868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Biggest Challenge</a:t>
            </a:r>
            <a:endParaRPr lang="en-US" sz="1600" dirty="0"/>
          </a:p>
        </p:txBody>
      </p:sp>
      <p:sp>
        <p:nvSpPr>
          <p:cNvPr id="10" name="Text 6"/>
          <p:cNvSpPr txBox="1"/>
          <p:nvPr/>
        </p:nvSpPr>
        <p:spPr>
          <a:xfrm>
            <a:off x="868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Confirming that features worked with correct information was straightforward, but deliberately entering incorrect information and hunting for security weaknesses that were not immediately visible required far more careful testing.</a:t>
            </a:r>
            <a:endParaRPr lang="en-US" sz="1250" dirty="0"/>
          </a:p>
        </p:txBody>
      </p:sp>
      <p:sp>
        <p:nvSpPr>
          <p:cNvPr id="11" name="Shape 7"/>
          <p:cNvSpPr/>
          <p:nvPr/>
        </p:nvSpPr>
        <p:spPr>
          <a:xfrm>
            <a:off x="6263640" y="1737360"/>
            <a:ext cx="5349240" cy="3749040"/>
          </a:xfrm>
          <a:prstGeom prst="roundRect">
            <a:avLst>
              <a:gd name="adj" fmla="val 1951"/>
            </a:avLst>
          </a:prstGeom>
          <a:solidFill>
            <a:srgbClr val="F7F8FC"/>
          </a:solidFill>
          <a:ln w="12700">
            <a:solidFill>
              <a:srgbClr val="E4E7EE"/>
            </a:solidFill>
            <a:prstDash val="solid"/>
          </a:ln>
          <a:effectLst>
            <a:outerShdw blurRad="101600" dist="25400" dir="5400000" algn="bl" rotWithShape="0">
              <a:srgbClr val="1E2761">
                <a:alpha val="12000"/>
              </a:srgbClr>
            </a:outerShdw>
          </a:effectLst>
        </p:spPr>
      </p:sp>
      <p:sp>
        <p:nvSpPr>
          <p:cNvPr id="12" name="Shape 8"/>
          <p:cNvSpPr/>
          <p:nvPr/>
        </p:nvSpPr>
        <p:spPr>
          <a:xfrm>
            <a:off x="6583680" y="2057400"/>
            <a:ext cx="566928" cy="566928"/>
          </a:xfrm>
          <a:prstGeom prst="ellipse">
            <a:avLst/>
          </a:prstGeom>
          <a:solidFill>
            <a:srgbClr val="1E2761"/>
          </a:solidFill>
          <a:ln/>
        </p:spPr>
      </p:sp>
      <p:pic>
        <p:nvPicPr>
          <p:cNvPr id="13" name="Image 2" descr="/home/claude/work/icons_gen/lightbulb.png"/>
          <p:cNvPicPr>
            <a:picLocks noChangeAspect="1"/>
          </p:cNvPicPr>
          <p:nvPr/>
        </p:nvPicPr>
        <p:blipFill>
          <a:blip r:embed="rId5"/>
          <a:stretch>
            <a:fillRect/>
          </a:stretch>
        </p:blipFill>
        <p:spPr>
          <a:xfrm>
            <a:off x="6729984" y="2203704"/>
            <a:ext cx="274320" cy="274320"/>
          </a:xfrm>
          <a:prstGeom prst="rect">
            <a:avLst/>
          </a:prstGeom>
        </p:spPr>
      </p:pic>
      <p:sp>
        <p:nvSpPr>
          <p:cNvPr id="14" name="Text 9"/>
          <p:cNvSpPr txBox="1"/>
          <p:nvPr/>
        </p:nvSpPr>
        <p:spPr>
          <a:xfrm>
            <a:off x="6583680" y="2743200"/>
            <a:ext cx="4709160" cy="36576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Key Takeaway</a:t>
            </a:r>
            <a:endParaRPr lang="en-US" sz="1600" dirty="0"/>
          </a:p>
        </p:txBody>
      </p:sp>
      <p:sp>
        <p:nvSpPr>
          <p:cNvPr id="15" name="Text 10"/>
          <p:cNvSpPr txBox="1"/>
          <p:nvPr/>
        </p:nvSpPr>
        <p:spPr>
          <a:xfrm>
            <a:off x="6583680" y="3154680"/>
            <a:ext cx="4709160" cy="2057400"/>
          </a:xfrm>
          <a:prstGeom prst="rect">
            <a:avLst/>
          </a:prstGeom>
          <a:noFill/>
          <a:ln/>
        </p:spPr>
        <p:txBody>
          <a:bodyPr wrap="square" lIns="0" tIns="0" rIns="0" bIns="0" rtlCol="0" anchor="t"/>
          <a:lstStyle/>
          <a:p>
            <a:pPr marL="0" indent="0" algn="l">
              <a:lnSpc>
                <a:spcPct val="122000"/>
              </a:lnSpc>
              <a:buNone/>
            </a:pPr>
            <a:r>
              <a:rPr lang="en-US" sz="1250" dirty="0">
                <a:solidFill>
                  <a:srgbClr val="33394A"/>
                </a:solidFill>
                <a:latin typeface="Calibri" pitchFamily="34" charset="0"/>
                <a:ea typeface="Calibri" pitchFamily="34" charset="-122"/>
                <a:cs typeface="Calibri" pitchFamily="34" charset="-120"/>
              </a:rPr>
              <a:t>The process improved the application's reliability, security, usability, and accessibility, and showed that production-ready development requires continuous testing, security awareness, and human responsibility when using AI-assisted tools.</a:t>
            </a:r>
            <a:endParaRPr lang="en-US" sz="1250" dirty="0"/>
          </a:p>
        </p:txBody>
      </p:sp>
      <p:sp>
        <p:nvSpPr>
          <p:cNvPr id="16" name="Text 11"/>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17" name="Shape 12"/>
          <p:cNvSpPr/>
          <p:nvPr/>
        </p:nvSpPr>
        <p:spPr>
          <a:xfrm>
            <a:off x="11475720" y="6446520"/>
            <a:ext cx="310896" cy="310896"/>
          </a:xfrm>
          <a:prstGeom prst="ellipse">
            <a:avLst/>
          </a:prstGeom>
          <a:solidFill>
            <a:srgbClr val="1E2761"/>
          </a:solidFill>
          <a:ln/>
        </p:spPr>
      </p:sp>
      <p:sp>
        <p:nvSpPr>
          <p:cNvPr id="18" name="Text 13"/>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lgn="l">
              <a:buNone/>
            </a:pPr>
            <a:r>
              <a:rPr lang="en-US" sz="1100" b="1" kern="0" spc="200" dirty="0">
                <a:solidFill>
                  <a:srgbClr val="1E2761"/>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9692640" cy="640080"/>
          </a:xfrm>
          <a:prstGeom prst="rect">
            <a:avLst/>
          </a:prstGeom>
          <a:noFill/>
          <a:ln/>
        </p:spPr>
        <p:txBody>
          <a:bodyPr wrap="square" lIns="0" tIns="0" rIns="0" bIns="0" rtlCol="0" anchor="ctr"/>
          <a:lstStyle/>
          <a:p>
            <a:pPr marL="0" indent="0" algn="ctr">
              <a:buNone/>
            </a:pPr>
            <a:r>
              <a:rPr lang="en-US" sz="2800" b="1" dirty="0">
                <a:solidFill>
                  <a:srgbClr val="202538"/>
                </a:solidFill>
                <a:latin typeface="Cambria" pitchFamily="34" charset="0"/>
                <a:ea typeface="Cambria" pitchFamily="34" charset="-122"/>
                <a:cs typeface="Cambria" pitchFamily="34" charset="-120"/>
              </a:rPr>
              <a:t>References</a:t>
            </a:r>
            <a:endParaRPr lang="en-US" sz="2800" dirty="0"/>
          </a:p>
        </p:txBody>
      </p:sp>
      <p:sp>
        <p:nvSpPr>
          <p:cNvPr id="4" name="Shape 2"/>
          <p:cNvSpPr/>
          <p:nvPr/>
        </p:nvSpPr>
        <p:spPr>
          <a:xfrm>
            <a:off x="10835640" y="457200"/>
            <a:ext cx="822960" cy="822960"/>
          </a:xfrm>
          <a:prstGeom prst="ellipse">
            <a:avLst/>
          </a:prstGeom>
          <a:solidFill>
            <a:srgbClr val="1E2761"/>
          </a:solidFill>
          <a:ln/>
          <a:effectLst>
            <a:outerShdw blurRad="76200" dist="25400" dir="5400000" algn="bl" rotWithShape="0">
              <a:srgbClr val="1E2761">
                <a:alpha val="25000"/>
              </a:srgbClr>
            </a:outerShdw>
          </a:effectLst>
        </p:spPr>
      </p:sp>
      <p:pic>
        <p:nvPicPr>
          <p:cNvPr id="5" name="Image 0" descr="/home/claude/work/icons_gen/book.png"/>
          <p:cNvPicPr>
            <a:picLocks noChangeAspect="1"/>
          </p:cNvPicPr>
          <p:nvPr/>
        </p:nvPicPr>
        <p:blipFill>
          <a:blip r:embed="rId3"/>
          <a:stretch>
            <a:fillRect/>
          </a:stretch>
        </p:blipFill>
        <p:spPr>
          <a:xfrm>
            <a:off x="11018520" y="640080"/>
            <a:ext cx="457200" cy="457200"/>
          </a:xfrm>
          <a:prstGeom prst="rect">
            <a:avLst/>
          </a:prstGeom>
        </p:spPr>
      </p:pic>
      <p:sp>
        <p:nvSpPr>
          <p:cNvPr id="6" name="Shape 3"/>
          <p:cNvSpPr/>
          <p:nvPr/>
        </p:nvSpPr>
        <p:spPr>
          <a:xfrm>
            <a:off x="548640" y="1874520"/>
            <a:ext cx="11064240" cy="960120"/>
          </a:xfrm>
          <a:prstGeom prst="roundRect">
            <a:avLst>
              <a:gd name="adj" fmla="val 6667"/>
            </a:avLst>
          </a:prstGeom>
          <a:solidFill>
            <a:srgbClr val="F7F8FC"/>
          </a:solidFill>
          <a:ln w="12700">
            <a:solidFill>
              <a:srgbClr val="E4E7EE"/>
            </a:solidFill>
            <a:prstDash val="solid"/>
          </a:ln>
        </p:spPr>
      </p:sp>
      <p:sp>
        <p:nvSpPr>
          <p:cNvPr id="7" name="Shape 4"/>
          <p:cNvSpPr/>
          <p:nvPr/>
        </p:nvSpPr>
        <p:spPr>
          <a:xfrm>
            <a:off x="822960" y="2121408"/>
            <a:ext cx="457200" cy="457200"/>
          </a:xfrm>
          <a:prstGeom prst="ellipse">
            <a:avLst/>
          </a:prstGeom>
          <a:solidFill>
            <a:srgbClr val="1E2761"/>
          </a:solidFill>
          <a:ln/>
        </p:spPr>
      </p:sp>
      <p:pic>
        <p:nvPicPr>
          <p:cNvPr id="8" name="Image 1" descr="/home/claude/work/icons_gen/playcircle.png"/>
          <p:cNvPicPr>
            <a:picLocks noChangeAspect="1"/>
          </p:cNvPicPr>
          <p:nvPr/>
        </p:nvPicPr>
        <p:blipFill>
          <a:blip r:embed="rId4"/>
          <a:stretch>
            <a:fillRect/>
          </a:stretch>
        </p:blipFill>
        <p:spPr>
          <a:xfrm>
            <a:off x="932688" y="2231136"/>
            <a:ext cx="237744" cy="237744"/>
          </a:xfrm>
          <a:prstGeom prst="rect">
            <a:avLst/>
          </a:prstGeom>
        </p:spPr>
      </p:pic>
      <p:sp>
        <p:nvSpPr>
          <p:cNvPr id="9" name="Text 5"/>
          <p:cNvSpPr txBox="1"/>
          <p:nvPr/>
        </p:nvSpPr>
        <p:spPr>
          <a:xfrm>
            <a:off x="1508760" y="1993392"/>
            <a:ext cx="98755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[1]  </a:t>
            </a:r>
            <a:r>
              <a:rPr lang="en-US" sz="1500" b="1" dirty="0">
                <a:solidFill>
                  <a:srgbClr val="202538"/>
                </a:solidFill>
                <a:latin typeface="Cambria" pitchFamily="34" charset="0"/>
                <a:ea typeface="Cambria" pitchFamily="34" charset="-122"/>
                <a:cs typeface="Cambria" pitchFamily="34" charset="-120"/>
              </a:rPr>
              <a:t>Functional Software Testing</a:t>
            </a:r>
            <a:endParaRPr lang="en-US" sz="1500" dirty="0"/>
          </a:p>
        </p:txBody>
      </p:sp>
      <p:sp>
        <p:nvSpPr>
          <p:cNvPr id="10" name="Text 6"/>
          <p:cNvSpPr txBox="1"/>
          <p:nvPr/>
        </p:nvSpPr>
        <p:spPr>
          <a:xfrm>
            <a:off x="1508760" y="2377440"/>
            <a:ext cx="9875520" cy="320040"/>
          </a:xfrm>
          <a:prstGeom prst="rect">
            <a:avLst/>
          </a:prstGeom>
          <a:noFill/>
          <a:ln/>
        </p:spPr>
        <p:txBody>
          <a:bodyPr wrap="square" lIns="0" tIns="0" rIns="0" bIns="0" rtlCol="0" anchor="ctr"/>
          <a:lstStyle/>
          <a:p>
            <a:pPr marL="0" indent="0" algn="l">
              <a:buNone/>
            </a:pPr>
            <a:r>
              <a:rPr lang="en-US" sz="1150" dirty="0">
                <a:solidFill>
                  <a:srgbClr val="3C6FDE"/>
                </a:solidFill>
                <a:latin typeface="Calibri" pitchFamily="34" charset="0"/>
                <a:ea typeface="Calibri" pitchFamily="34" charset="-122"/>
                <a:cs typeface="Calibri" pitchFamily="34" charset="-120"/>
              </a:rPr>
              <a:t>https://www.youtube.com/watch?v=5HBYg7_Onqo</a:t>
            </a:r>
            <a:endParaRPr lang="en-US" sz="1150" dirty="0"/>
          </a:p>
        </p:txBody>
      </p:sp>
      <p:sp>
        <p:nvSpPr>
          <p:cNvPr id="11" name="Shape 7"/>
          <p:cNvSpPr/>
          <p:nvPr/>
        </p:nvSpPr>
        <p:spPr>
          <a:xfrm>
            <a:off x="548640" y="3063240"/>
            <a:ext cx="11064240" cy="960120"/>
          </a:xfrm>
          <a:prstGeom prst="roundRect">
            <a:avLst>
              <a:gd name="adj" fmla="val 6667"/>
            </a:avLst>
          </a:prstGeom>
          <a:solidFill>
            <a:srgbClr val="F7F8FC"/>
          </a:solidFill>
          <a:ln w="12700">
            <a:solidFill>
              <a:srgbClr val="E4E7EE"/>
            </a:solidFill>
            <a:prstDash val="solid"/>
          </a:ln>
        </p:spPr>
      </p:sp>
      <p:sp>
        <p:nvSpPr>
          <p:cNvPr id="12" name="Shape 8"/>
          <p:cNvSpPr/>
          <p:nvPr/>
        </p:nvSpPr>
        <p:spPr>
          <a:xfrm>
            <a:off x="822960" y="3310128"/>
            <a:ext cx="457200" cy="457200"/>
          </a:xfrm>
          <a:prstGeom prst="ellipse">
            <a:avLst/>
          </a:prstGeom>
          <a:solidFill>
            <a:srgbClr val="1E2761"/>
          </a:solidFill>
          <a:ln/>
        </p:spPr>
      </p:sp>
      <p:pic>
        <p:nvPicPr>
          <p:cNvPr id="13" name="Image 2" descr="/home/claude/work/icons_gen/playcircle.png"/>
          <p:cNvPicPr>
            <a:picLocks noChangeAspect="1"/>
          </p:cNvPicPr>
          <p:nvPr/>
        </p:nvPicPr>
        <p:blipFill>
          <a:blip r:embed="rId4"/>
          <a:stretch>
            <a:fillRect/>
          </a:stretch>
        </p:blipFill>
        <p:spPr>
          <a:xfrm>
            <a:off x="932688" y="3419856"/>
            <a:ext cx="237744" cy="237744"/>
          </a:xfrm>
          <a:prstGeom prst="rect">
            <a:avLst/>
          </a:prstGeom>
        </p:spPr>
      </p:pic>
      <p:sp>
        <p:nvSpPr>
          <p:cNvPr id="14" name="Text 9"/>
          <p:cNvSpPr txBox="1"/>
          <p:nvPr/>
        </p:nvSpPr>
        <p:spPr>
          <a:xfrm>
            <a:off x="1508760" y="3182112"/>
            <a:ext cx="98755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[2]  </a:t>
            </a:r>
            <a:r>
              <a:rPr lang="en-US" sz="1500" b="1" dirty="0">
                <a:solidFill>
                  <a:srgbClr val="202538"/>
                </a:solidFill>
                <a:latin typeface="Cambria" pitchFamily="34" charset="0"/>
                <a:ea typeface="Cambria" pitchFamily="34" charset="-122"/>
                <a:cs typeface="Cambria" pitchFamily="34" charset="-120"/>
              </a:rPr>
              <a:t>Application Security</a:t>
            </a:r>
            <a:endParaRPr lang="en-US" sz="1500" dirty="0"/>
          </a:p>
        </p:txBody>
      </p:sp>
      <p:sp>
        <p:nvSpPr>
          <p:cNvPr id="15" name="Text 10"/>
          <p:cNvSpPr txBox="1"/>
          <p:nvPr/>
        </p:nvSpPr>
        <p:spPr>
          <a:xfrm>
            <a:off x="1508760" y="3566160"/>
            <a:ext cx="9875520" cy="320040"/>
          </a:xfrm>
          <a:prstGeom prst="rect">
            <a:avLst/>
          </a:prstGeom>
          <a:noFill/>
          <a:ln/>
        </p:spPr>
        <p:txBody>
          <a:bodyPr wrap="square" lIns="0" tIns="0" rIns="0" bIns="0" rtlCol="0" anchor="ctr"/>
          <a:lstStyle/>
          <a:p>
            <a:pPr marL="0" indent="0" algn="l">
              <a:buNone/>
            </a:pPr>
            <a:r>
              <a:rPr lang="en-US" sz="1150" dirty="0">
                <a:solidFill>
                  <a:srgbClr val="3C6FDE"/>
                </a:solidFill>
                <a:latin typeface="Calibri" pitchFamily="34" charset="0"/>
                <a:ea typeface="Calibri" pitchFamily="34" charset="-122"/>
                <a:cs typeface="Calibri" pitchFamily="34" charset="-120"/>
              </a:rPr>
              <a:t>https://www.youtube.com/watch?v=Dp019cWu1cg</a:t>
            </a:r>
            <a:endParaRPr lang="en-US" sz="1150" dirty="0"/>
          </a:p>
        </p:txBody>
      </p:sp>
      <p:sp>
        <p:nvSpPr>
          <p:cNvPr id="16" name="Shape 11"/>
          <p:cNvSpPr/>
          <p:nvPr/>
        </p:nvSpPr>
        <p:spPr>
          <a:xfrm>
            <a:off x="548640" y="4251960"/>
            <a:ext cx="11064240" cy="960120"/>
          </a:xfrm>
          <a:prstGeom prst="roundRect">
            <a:avLst>
              <a:gd name="adj" fmla="val 6667"/>
            </a:avLst>
          </a:prstGeom>
          <a:solidFill>
            <a:srgbClr val="F7F8FC"/>
          </a:solidFill>
          <a:ln w="12700">
            <a:solidFill>
              <a:srgbClr val="E4E7EE"/>
            </a:solidFill>
            <a:prstDash val="solid"/>
          </a:ln>
        </p:spPr>
      </p:sp>
      <p:sp>
        <p:nvSpPr>
          <p:cNvPr id="17" name="Shape 12"/>
          <p:cNvSpPr/>
          <p:nvPr/>
        </p:nvSpPr>
        <p:spPr>
          <a:xfrm>
            <a:off x="822960" y="4498848"/>
            <a:ext cx="457200" cy="457200"/>
          </a:xfrm>
          <a:prstGeom prst="ellipse">
            <a:avLst/>
          </a:prstGeom>
          <a:solidFill>
            <a:srgbClr val="1E2761"/>
          </a:solidFill>
          <a:ln/>
        </p:spPr>
      </p:sp>
      <p:pic>
        <p:nvPicPr>
          <p:cNvPr id="18" name="Image 3" descr="/home/claude/work/icons_gen/playcircle.png"/>
          <p:cNvPicPr>
            <a:picLocks noChangeAspect="1"/>
          </p:cNvPicPr>
          <p:nvPr/>
        </p:nvPicPr>
        <p:blipFill>
          <a:blip r:embed="rId4"/>
          <a:stretch>
            <a:fillRect/>
          </a:stretch>
        </p:blipFill>
        <p:spPr>
          <a:xfrm>
            <a:off x="932688" y="4608576"/>
            <a:ext cx="237744" cy="237744"/>
          </a:xfrm>
          <a:prstGeom prst="rect">
            <a:avLst/>
          </a:prstGeom>
        </p:spPr>
      </p:pic>
      <p:sp>
        <p:nvSpPr>
          <p:cNvPr id="19" name="Text 13"/>
          <p:cNvSpPr txBox="1"/>
          <p:nvPr/>
        </p:nvSpPr>
        <p:spPr>
          <a:xfrm>
            <a:off x="1508760" y="4370832"/>
            <a:ext cx="98755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[3]  </a:t>
            </a:r>
            <a:r>
              <a:rPr lang="en-US" sz="1500" b="1" dirty="0">
                <a:solidFill>
                  <a:srgbClr val="202538"/>
                </a:solidFill>
                <a:latin typeface="Cambria" pitchFamily="34" charset="0"/>
                <a:ea typeface="Cambria" pitchFamily="34" charset="-122"/>
                <a:cs typeface="Cambria" pitchFamily="34" charset="-120"/>
              </a:rPr>
              <a:t>Functional Testing | Security Testing</a:t>
            </a:r>
            <a:endParaRPr lang="en-US" sz="1500" dirty="0"/>
          </a:p>
        </p:txBody>
      </p:sp>
      <p:sp>
        <p:nvSpPr>
          <p:cNvPr id="20" name="Text 14"/>
          <p:cNvSpPr txBox="1"/>
          <p:nvPr/>
        </p:nvSpPr>
        <p:spPr>
          <a:xfrm>
            <a:off x="1508760" y="4754880"/>
            <a:ext cx="9875520" cy="320040"/>
          </a:xfrm>
          <a:prstGeom prst="rect">
            <a:avLst/>
          </a:prstGeom>
          <a:noFill/>
          <a:ln/>
        </p:spPr>
        <p:txBody>
          <a:bodyPr wrap="square" lIns="0" tIns="0" rIns="0" bIns="0" rtlCol="0" anchor="ctr"/>
          <a:lstStyle/>
          <a:p>
            <a:pPr marL="0" indent="0" algn="l">
              <a:buNone/>
            </a:pPr>
            <a:r>
              <a:rPr lang="en-US" sz="1150" dirty="0">
                <a:solidFill>
                  <a:srgbClr val="3C6FDE"/>
                </a:solidFill>
                <a:latin typeface="Calibri" pitchFamily="34" charset="0"/>
                <a:ea typeface="Calibri" pitchFamily="34" charset="-122"/>
                <a:cs typeface="Calibri" pitchFamily="34" charset="-120"/>
              </a:rPr>
              <a:t>https://www.youtube.com/watch?v=l5cAeQ3BhjI</a:t>
            </a:r>
            <a:endParaRPr lang="en-US" sz="1150" dirty="0"/>
          </a:p>
        </p:txBody>
      </p:sp>
      <p:sp>
        <p:nvSpPr>
          <p:cNvPr id="21" name="Text 15"/>
          <p:cNvSpPr txBox="1"/>
          <p:nvPr/>
        </p:nvSpPr>
        <p:spPr>
          <a:xfrm>
            <a:off x="548640" y="6510528"/>
            <a:ext cx="77724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Testing &amp; Security Report  |  Application Production-Readiness Assignment</a:t>
            </a:r>
            <a:endParaRPr lang="en-US" sz="900" dirty="0"/>
          </a:p>
        </p:txBody>
      </p:sp>
      <p:sp>
        <p:nvSpPr>
          <p:cNvPr id="22" name="Shape 16"/>
          <p:cNvSpPr/>
          <p:nvPr/>
        </p:nvSpPr>
        <p:spPr>
          <a:xfrm>
            <a:off x="11475720" y="6446520"/>
            <a:ext cx="310896" cy="310896"/>
          </a:xfrm>
          <a:prstGeom prst="ellipse">
            <a:avLst/>
          </a:prstGeom>
          <a:solidFill>
            <a:srgbClr val="1E2761"/>
          </a:solidFill>
          <a:ln/>
        </p:spPr>
      </p:sp>
      <p:sp>
        <p:nvSpPr>
          <p:cNvPr id="23" name="Text 17"/>
          <p:cNvSpPr txBox="1"/>
          <p:nvPr/>
        </p:nvSpPr>
        <p:spPr>
          <a:xfrm>
            <a:off x="11475720" y="6446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1657</Words>
  <Application>Microsoft Office PowerPoint</Application>
  <PresentationFormat>Widescreen</PresentationFormat>
  <Paragraphs>110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2026-09-13T22:03:07Z</dcterms:created>
  <dcterms:modified xsi:type="dcterms:W3CDTF">2026-09-13T22:03:11Z</dcterms:modified>
</cp:coreProperties>
</file>